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7" r:id="rId2"/>
    <p:sldId id="275" r:id="rId3"/>
    <p:sldId id="283" r:id="rId4"/>
    <p:sldId id="281" r:id="rId5"/>
    <p:sldId id="284" r:id="rId6"/>
    <p:sldId id="285" r:id="rId7"/>
    <p:sldId id="280" r:id="rId8"/>
    <p:sldId id="291" r:id="rId9"/>
    <p:sldId id="277" r:id="rId10"/>
    <p:sldId id="286" r:id="rId11"/>
    <p:sldId id="288" r:id="rId12"/>
    <p:sldId id="290" r:id="rId13"/>
    <p:sldId id="292" r:id="rId14"/>
    <p:sldId id="293" r:id="rId15"/>
    <p:sldId id="289" r:id="rId16"/>
    <p:sldId id="282" r:id="rId17"/>
    <p:sldId id="27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D35D668-F8F9-4CB8-B16D-96222BAA1C0A}">
          <p14:sldIdLst>
            <p14:sldId id="287"/>
            <p14:sldId id="275"/>
            <p14:sldId id="283"/>
            <p14:sldId id="281"/>
            <p14:sldId id="284"/>
            <p14:sldId id="285"/>
            <p14:sldId id="280"/>
            <p14:sldId id="291"/>
            <p14:sldId id="277"/>
            <p14:sldId id="286"/>
            <p14:sldId id="288"/>
            <p14:sldId id="290"/>
            <p14:sldId id="292"/>
            <p14:sldId id="293"/>
            <p14:sldId id="289"/>
            <p14:sldId id="282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W8FONrof2oM5paDlLK+r2S1Eq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C642B1-3F16-4312-B2C2-3299CEB66A62}">
  <a:tblStyle styleId="{CBC642B1-3F16-4312-B2C2-3299CEB66A62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99995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3350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799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body" idx="2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body" idx="3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 b="1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sz="1600" b="1"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4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D4917E1-1351-48E7-B6C8-DE8186F0704B}" type="datetime3">
              <a:rPr lang="en-US" smtClean="0"/>
              <a:t>8 April 2026</a:t>
            </a:fld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9C7B0AE-F067-4F91-9ECB-FAE13184135E}" type="datetime3">
              <a:rPr lang="en-US" smtClean="0"/>
              <a:t>8 April 2026</a:t>
            </a:fld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6200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1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175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1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21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38" name="Google Shape;38;p21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21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3A6149-7A6A-4A91-A33A-B87716F70425}" type="datetime3">
              <a:rPr lang="en-US" smtClean="0"/>
              <a:t>8 April 2026</a:t>
            </a:fld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sz="8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D307F6C-1C56-4CCE-856D-673B986DE566}" type="datetime3">
              <a:rPr lang="en-US" smtClean="0"/>
              <a:t>8 April 2026</a:t>
            </a:fld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grpSp>
        <p:nvGrpSpPr>
          <p:cNvPr id="51" name="Google Shape;51;p22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52" name="Google Shape;52;p2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lvl="1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lvl="2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lvl="3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lvl="4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lvl="5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lvl="6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lvl="7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lvl="8" indent="0" algn="ctr">
              <a:spcBef>
                <a:spcPts val="0"/>
              </a:spcBef>
              <a:buNone/>
              <a:defRPr sz="28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7276BCC-4F2A-4056-9D8A-0E6803B92CBC}" type="datetime3">
              <a:rPr lang="en-US" smtClean="0"/>
              <a:t>8 April 2026</a:t>
            </a:fld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26E80BC-9D11-461D-A949-78548FF480D7}" type="datetime3">
              <a:rPr lang="en-US" smtClean="0"/>
              <a:t>8 April 2026</a:t>
            </a:fld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C1B2448-B02B-4C4D-8448-C56D43D678DD}" type="datetime3">
              <a:rPr lang="en-US" smtClean="0"/>
              <a:t>8 April 2026</a:t>
            </a:fld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body" idx="1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marL="1371600" lvl="2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marL="1828800" lvl="3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marL="2286000" lvl="4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marL="2743200" lvl="5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marL="3200400" lvl="6" indent="-31496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marL="3657600" lvl="7" indent="-314959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marL="4114800" lvl="8" indent="-314959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2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736CD46-4AEB-49D8-9957-7F1A35A34B9A}" type="datetime3">
              <a:rPr lang="en-US" smtClean="0"/>
              <a:t>8 April 2026</a:t>
            </a:fld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grpSp>
        <p:nvGrpSpPr>
          <p:cNvPr id="78" name="Google Shape;78;p26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9" name="Google Shape;79;p26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6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tx="0" ty="-704850" sx="92000" sy="89000" flip="xy" algn="ctr"/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sz="3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>
            <a:spLocks noGrp="1"/>
          </p:cNvSpPr>
          <p:nvPr>
            <p:ph type="pic" idx="2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72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7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9746167-37CA-4D16-8163-F9C18FDE0CD0}" type="datetime3">
              <a:rPr lang="en-US" smtClean="0"/>
              <a:t>8 April 2026</a:t>
            </a:fld>
            <a:endParaRPr/>
          </a:p>
        </p:txBody>
      </p:sp>
      <p:grpSp>
        <p:nvGrpSpPr>
          <p:cNvPr id="88" name="Google Shape;88;p27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9" name="Google Shape;89;p2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7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27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body" idx="1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B1ADED-94CB-4DB1-B1F8-C07968FEAB44}" type="datetime3">
              <a:rPr lang="en-US" smtClean="0"/>
              <a:t>8 April 2026</a:t>
            </a:fld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9"/>
          <p:cNvSpPr txBox="1">
            <a:spLocks noGrp="1"/>
          </p:cNvSpPr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body" idx="1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8A94F67-5B42-4ABD-BEF3-FA6D9CDDB3B1}" type="datetime3">
              <a:rPr lang="en-US" smtClean="0"/>
              <a:t>8 April 2026</a:t>
            </a:fld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sz="5400" b="0" i="0" u="none" strike="noStrike" cap="non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1496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14959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14959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fld id="{565A95E6-057B-45AA-862C-2DF606CA0B2A}" type="datetime3">
              <a:rPr lang="en-US" smtClean="0"/>
              <a:t>8 April 2026</a:t>
            </a:fld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r>
              <a:rPr lang="en-GB"/>
              <a:t>Industry Oriented Mini Project (2025-26) – DEPARTMENT OF ECE , CVR COLLEGE OF ENGINEERING</a:t>
            </a:r>
            <a:endParaRPr/>
          </a:p>
        </p:txBody>
      </p:sp>
      <p:grpSp>
        <p:nvGrpSpPr>
          <p:cNvPr id="14" name="Google Shape;14;p18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1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3">
                <a:alphaModFix/>
              </a:blip>
              <a:tile tx="50800" ty="0" sx="85000" sy="85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18"/>
          <p:cNvSpPr txBox="1">
            <a:spLocks noGrp="1"/>
          </p:cNvSpPr>
          <p:nvPr>
            <p:ph type="sldNum" idx="12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title"/>
          </p:nvPr>
        </p:nvSpPr>
        <p:spPr>
          <a:xfrm>
            <a:off x="528023" y="1645102"/>
            <a:ext cx="10961508" cy="103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9E3611"/>
              </a:buClr>
              <a:buSzPts val="4860"/>
            </a:pPr>
            <a:r>
              <a:rPr lang="en-US" sz="3200" dirty="0">
                <a:solidFill>
                  <a:srgbClr val="9E3611"/>
                </a:solidFill>
                <a:latin typeface="+mj-lt"/>
                <a:cs typeface="Times New Roman" panose="02020603050405020304" pitchFamily="18" charset="0"/>
              </a:rPr>
              <a:t>RISC-V Custom Instruction Multiply-Accumulate Hardware</a:t>
            </a:r>
            <a:endParaRPr sz="3200" dirty="0">
              <a:solidFill>
                <a:srgbClr val="9E361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9" name="Google Shape;109;p1"/>
          <p:cNvSpPr txBox="1">
            <a:spLocks noGrp="1"/>
          </p:cNvSpPr>
          <p:nvPr>
            <p:ph type="body" idx="2"/>
          </p:nvPr>
        </p:nvSpPr>
        <p:spPr>
          <a:xfrm>
            <a:off x="201269" y="3577436"/>
            <a:ext cx="6154926" cy="271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b="1" dirty="0">
                <a:solidFill>
                  <a:srgbClr val="0070C0"/>
                </a:solidFill>
              </a:rPr>
              <a:t>Work done by</a:t>
            </a:r>
            <a:endParaRPr strike="sngStrike" dirty="0"/>
          </a:p>
          <a:p>
            <a:pPr marL="0" indent="0">
              <a:buNone/>
            </a:pPr>
            <a:r>
              <a:rPr lang="en-US" dirty="0"/>
              <a:t> P. Sathvik Kumar(23B81A04A3)</a:t>
            </a:r>
            <a:endParaRPr lang="en-US" strike="sngStrike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9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body" idx="4"/>
          </p:nvPr>
        </p:nvSpPr>
        <p:spPr>
          <a:xfrm>
            <a:off x="7493620" y="3641511"/>
            <a:ext cx="4217370" cy="1755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b="1">
                <a:solidFill>
                  <a:srgbClr val="0070C0"/>
                </a:solidFill>
              </a:rPr>
              <a:t>Under the supervision of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/>
              <a:t>Dr. Siliveri Swetha</a:t>
            </a:r>
          </a:p>
          <a:p>
            <a:pPr marL="0" lvl="0" indent="0">
              <a:buNone/>
            </a:pPr>
            <a:r>
              <a:rPr lang="en-US"/>
              <a:t>Senior Assistant Professor, ECE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/>
              <a:t>CVR College of Engineering</a:t>
            </a:r>
            <a:endParaRPr/>
          </a:p>
        </p:txBody>
      </p:sp>
      <p:pic>
        <p:nvPicPr>
          <p:cNvPr id="113" name="Google Shape;1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3822" y="-82458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857D4-B86C-D9FB-BB29-F3F645EFCFC2}"/>
              </a:ext>
            </a:extLst>
          </p:cNvPr>
          <p:cNvSpPr txBox="1"/>
          <p:nvPr/>
        </p:nvSpPr>
        <p:spPr>
          <a:xfrm>
            <a:off x="2654709" y="424076"/>
            <a:ext cx="6115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3600" b="1" dirty="0">
                <a:solidFill>
                  <a:srgbClr val="C00000"/>
                </a:solidFill>
                <a:latin typeface="CGOMEGA"/>
              </a:rPr>
              <a:t>CVR COLLEGE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218430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302" y="251178"/>
            <a:ext cx="2650118" cy="608206"/>
          </a:xfrm>
        </p:spPr>
        <p:txBody>
          <a:bodyPr>
            <a:noAutofit/>
          </a:bodyPr>
          <a:lstStyle/>
          <a:p>
            <a:r>
              <a:rPr lang="en-US" sz="3200" b="1"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en-IN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22786" y="1079937"/>
                <a:ext cx="11454582" cy="5114385"/>
              </a:xfrm>
            </p:spPr>
            <p:txBody>
              <a:bodyPr/>
              <a:lstStyle/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RISC-V ISA is an open and extensible architecture that supports custom instructions for application-specific performance enhancement.</a:t>
                </a:r>
              </a:p>
              <a:p>
                <a:pPr marL="0" lvl="0" indent="0" algn="just">
                  <a:spcBef>
                    <a:spcPts val="0"/>
                  </a:spcBef>
                  <a:buSzPts val="1700"/>
                  <a:buNone/>
                </a:pPr>
                <a:endParaRPr lang="en-US" sz="1800" dirty="0"/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Autonomous swarm drones require frequent and real-time multiply–accumulate (MAC) computations for collision avoidance and coordination.</a:t>
                </a:r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endParaRPr lang="en-US" sz="1800" dirty="0"/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Conventional RV32IM processors execute MAC using separate multiplication and addition instructions, increasing latency, instruction count, and energy consumption.</a:t>
                </a:r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endParaRPr lang="en-US" sz="1800" dirty="0"/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To address this, a custom MAC instruction is proposed with a dedicated hardware MAC unit integrated into the execute stage.</a:t>
                </a:r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endParaRPr lang="en-US" sz="1800" dirty="0"/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r>
                  <a:rPr lang="en-IN" sz="1800" dirty="0"/>
                  <a:t>The MAC unit uses a  Booth multiplier and a dedicated accumulator adder to perform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</a:rPr>
                      <m:t>𝑟𝑑</m:t>
                    </m:r>
                    <m:r>
                      <a:rPr lang="en-I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800" i="1">
                        <a:latin typeface="Cambria Math" panose="02040503050406030204" pitchFamily="18" charset="0"/>
                      </a:rPr>
                      <m:t>𝑟𝑑</m:t>
                    </m:r>
                    <m:r>
                      <a:rPr lang="en-IN" sz="18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𝑟𝑠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𝑟𝑠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IN" sz="1800" dirty="0"/>
                  <a:t>in a single instruction execution.</a:t>
                </a:r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endParaRPr lang="en-IN" sz="1800" dirty="0"/>
              </a:p>
              <a:p>
                <a:pPr marL="342900" lvl="0" indent="-342900" algn="just">
                  <a:spcBef>
                    <a:spcPts val="0"/>
                  </a:spcBef>
                  <a:buSzPts val="1700"/>
                  <a:buFont typeface="Wingdings" panose="05000000000000000000" pitchFamily="2" charset="2"/>
                  <a:buChar char="Ø"/>
                </a:pPr>
                <a:r>
                  <a:rPr lang="en-US" sz="1800" dirty="0"/>
                  <a:t>This approach reduces cycle count, ensures deterministic low-latency computation, and improves energy efficiency for real-time swarm drone operation.</a:t>
                </a:r>
              </a:p>
              <a:p>
                <a:pPr marL="0" lvl="0" indent="0">
                  <a:spcBef>
                    <a:spcPts val="0"/>
                  </a:spcBef>
                  <a:buSzPts val="1700"/>
                  <a:buNone/>
                </a:pPr>
                <a:endParaRPr lang="en-US" dirty="0"/>
              </a:p>
              <a:p>
                <a:pPr marL="0" lvl="0" indent="0">
                  <a:spcBef>
                    <a:spcPts val="0"/>
                  </a:spcBef>
                  <a:buSzPts val="1700"/>
                  <a:buNone/>
                </a:pPr>
                <a:endParaRPr lang="en-US" dirty="0"/>
              </a:p>
              <a:p>
                <a:pPr marL="0" lvl="0" indent="0">
                  <a:spcBef>
                    <a:spcPts val="0"/>
                  </a:spcBef>
                  <a:buSzPts val="1700"/>
                  <a:buNone/>
                </a:pPr>
                <a:endParaRPr lang="en-US" dirty="0"/>
              </a:p>
              <a:p>
                <a:pPr marL="0" lvl="0" indent="0">
                  <a:spcBef>
                    <a:spcPts val="0"/>
                  </a:spcBef>
                  <a:buSzPts val="1700"/>
                  <a:buNone/>
                </a:pPr>
                <a:endParaRPr lang="en-US" dirty="0"/>
              </a:p>
              <a:p>
                <a:pPr marL="131445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2786" y="1079937"/>
                <a:ext cx="11454582" cy="5114385"/>
              </a:xfrm>
              <a:blipFill>
                <a:blip r:embed="rId2"/>
                <a:stretch>
                  <a:fillRect l="-213" t="-1073" r="-1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8" name="Google Shape;18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2929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15;p1"/>
          <p:cNvSpPr txBox="1">
            <a:spLocks noGrp="1"/>
          </p:cNvSpPr>
          <p:nvPr>
            <p:ph type="ftr" idx="11"/>
          </p:nvPr>
        </p:nvSpPr>
        <p:spPr>
          <a:xfrm>
            <a:off x="661182" y="6272784"/>
            <a:ext cx="82707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Industry Oriented Mini Project (2025-26) – DEPARTMENT OF ECE , CVR COLLEGE OF ENGINEERING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2CB848-B3C6-4C30-AF26-056A299ADAFC}" type="datetime3">
              <a:rPr lang="en-US" smtClean="0"/>
              <a:t>8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50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8E68-53BB-2CFB-3B2D-04D3F2C3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7377-8754-856A-969E-1430A3891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638" y="239287"/>
            <a:ext cx="2650118" cy="608206"/>
          </a:xfrm>
        </p:spPr>
        <p:txBody>
          <a:bodyPr>
            <a:noAutofit/>
          </a:bodyPr>
          <a:lstStyle/>
          <a:p>
            <a:r>
              <a:rPr lang="en-US" sz="3200" b="1">
                <a:latin typeface="+mj-lt"/>
              </a:rPr>
              <a:t>Objectives</a:t>
            </a:r>
            <a:endParaRPr lang="en-IN" sz="3200" b="1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C0668-75D7-46E8-77FC-1CD0C25FE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98" y="962937"/>
            <a:ext cx="11213403" cy="52698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Design and implement a 16×16-bit MAC Unit using a Radix-4 Modified Booth Multiplier and  Accumulate Adder in the Execution stage for single-cycle multiply-accumulate operation.</a:t>
            </a:r>
          </a:p>
          <a:p>
            <a:pPr marL="131445" indent="0" algn="just">
              <a:buNone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Extend the RV32IM instruction set with a custom R-type MAC instruction using RISC-V custom-0 opcode space without breaking backward ISA compatibility.</a:t>
            </a:r>
          </a:p>
          <a:p>
            <a:pPr marL="131445" indent="0" algn="just">
              <a:buNone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800" dirty="0"/>
              <a:t>Integrate the MAC unit into a complete 5-stage pipelined RV32IM processor (IF → ID → EX → MEM → WB) alongside the standard ALU and M-extension Multiplier/Divider Unit.</a:t>
            </a:r>
          </a:p>
          <a:p>
            <a:pPr marL="131445" indent="0" algn="just">
              <a:buNone/>
            </a:pPr>
            <a:endParaRPr lang="en-IN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Implement pipeline hazard handling using a Hazard Detection Unit for load-use stalls and a Forwarding Unit to resolve data hazards including MAC accumulator forwarding.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Validate the complete RTL design in Verilog HDL through simulation covering MAC instruction, forwarding chains, branch resolution, and load/store operations.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3506F-36AC-247E-9C5E-8C63484E03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8" name="Google Shape;184;p6">
            <a:extLst>
              <a:ext uri="{FF2B5EF4-FFF2-40B4-BE49-F238E27FC236}">
                <a16:creationId xmlns:a16="http://schemas.microsoft.com/office/drawing/2014/main" id="{9F9A3930-CCC7-CF7A-EA97-C2AFED9046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72929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15;p1">
            <a:extLst>
              <a:ext uri="{FF2B5EF4-FFF2-40B4-BE49-F238E27FC236}">
                <a16:creationId xmlns:a16="http://schemas.microsoft.com/office/drawing/2014/main" id="{D1837890-8DE0-8965-04D9-F88AD83DCC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61182" y="6272784"/>
            <a:ext cx="82707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Oriented Mini Project (2025-26) – DEPARTMENT OF ECE , CVR COLLEGE OF ENGINEERING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76AF7-E9CC-A27E-426B-7BE450F724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2CB848-B3C6-4C30-AF26-056A299ADAFC}" type="datetime3">
              <a:rPr lang="en-US" smtClean="0"/>
              <a:t>8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8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8839" y="101879"/>
            <a:ext cx="6330461" cy="685018"/>
          </a:xfrm>
        </p:spPr>
        <p:txBody>
          <a:bodyPr>
            <a:normAutofit/>
          </a:bodyPr>
          <a:lstStyle/>
          <a:p>
            <a:r>
              <a:rPr lang="en-US" sz="3200" b="1">
                <a:latin typeface="+mj-lt"/>
              </a:rPr>
              <a:t> 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 Required</a:t>
            </a:r>
            <a:endParaRPr lang="en-IN" sz="3200" b="1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6684" y="344129"/>
            <a:ext cx="9871292" cy="2108728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GB" sz="1800" dirty="0"/>
              <a:t>An FPGA (Field-Programmable Gate Array) Kit is a hardware development board used to design, prototype, and test digital</a:t>
            </a:r>
            <a:r>
              <a:rPr lang="en-GB" sz="1800" b="1" dirty="0"/>
              <a:t> </a:t>
            </a:r>
            <a:r>
              <a:rPr lang="en-GB" sz="1800" dirty="0"/>
              <a:t>circuits and embedded systems. These kits allow users to program the FPGA chip to implement custom logic circuits, processors, and embedded applications.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GB" sz="1800" dirty="0"/>
              <a:t>Power supply: Provides Power to the FPGA board </a:t>
            </a:r>
            <a:endParaRPr lang="en-US" sz="1800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sz="19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8" name="Google Shape;18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2972" y="-132045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36A998-0548-43F6-8E42-C3158BAF2835}" type="datetime3">
              <a:rPr lang="en-US" smtClean="0"/>
              <a:t>8 April 2026</a:t>
            </a:fld>
            <a:endParaRPr lang="en-US"/>
          </a:p>
        </p:txBody>
      </p:sp>
      <p:sp>
        <p:nvSpPr>
          <p:cNvPr id="9" name="Google Shape;115;p1"/>
          <p:cNvSpPr txBox="1">
            <a:spLocks noGrp="1"/>
          </p:cNvSpPr>
          <p:nvPr>
            <p:ph type="ftr" idx="11"/>
          </p:nvPr>
        </p:nvSpPr>
        <p:spPr>
          <a:xfrm>
            <a:off x="689317" y="6272784"/>
            <a:ext cx="82426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Oriented Mini Project (2025-26) – DEPARTMENT OF ECE , CVR COLLEGE OF ENGINEERING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038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2C865-E77F-ED29-DABE-61ADFED800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6D261-1C7E-6601-E531-679CD7DC83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17DF8-07B0-C26B-591A-1D036273BA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E451E-45A2-8891-04BD-8294384EDA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59" b="1879"/>
          <a:stretch>
            <a:fillRect/>
          </a:stretch>
        </p:blipFill>
        <p:spPr>
          <a:xfrm>
            <a:off x="2748008" y="457297"/>
            <a:ext cx="6194323" cy="5388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1CD67F-D989-E916-1C6E-ADB7E6113E5F}"/>
              </a:ext>
            </a:extLst>
          </p:cNvPr>
          <p:cNvSpPr txBox="1"/>
          <p:nvPr/>
        </p:nvSpPr>
        <p:spPr>
          <a:xfrm>
            <a:off x="4306825" y="164910"/>
            <a:ext cx="3657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/>
              <a:t>FPGA BOARD</a:t>
            </a:r>
          </a:p>
        </p:txBody>
      </p:sp>
    </p:spTree>
    <p:extLst>
      <p:ext uri="{BB962C8B-B14F-4D97-AF65-F5344CB8AC3E}">
        <p14:creationId xmlns:p14="http://schemas.microsoft.com/office/powerpoint/2010/main" val="1481997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89D1-826C-111C-297A-ADE420C6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8202" y="-41148"/>
            <a:ext cx="7321434" cy="1267275"/>
          </a:xfrm>
        </p:spPr>
        <p:txBody>
          <a:bodyPr/>
          <a:lstStyle/>
          <a:p>
            <a:r>
              <a:rPr lang="en-US" altLang="en-US">
                <a:latin typeface="+mj-lt"/>
              </a:rPr>
              <a:t>Software Requirement</a:t>
            </a:r>
            <a:endParaRPr lang="en-IN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EACC3-D546-31C9-B312-DB5D6EF43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368" y="826798"/>
            <a:ext cx="11357263" cy="56285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Xilinx </a:t>
            </a:r>
            <a:r>
              <a:rPr lang="en-US" sz="1800" dirty="0" err="1"/>
              <a:t>Vivado</a:t>
            </a:r>
            <a:r>
              <a:rPr lang="en-US" sz="1800" dirty="0"/>
              <a:t> is a software tool used to design digital circuits, especially for FPGA (Field-Programmable Gate Array) and SoC (System on Chip) development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Verilog HDL is used to design the RISC-V core, custom MAC unit, and modified execution </a:t>
            </a:r>
            <a:r>
              <a:rPr lang="en-US" sz="1800" dirty="0" err="1"/>
              <a:t>datapath</a:t>
            </a:r>
            <a:r>
              <a:rPr lang="en-US" sz="1800" dirty="0"/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Simulate the Design : Test your Verilog code to see if the logic works correctly before implementing it on hardware.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Synthesize the Code: Convert Verilog into a form that an FPGA can understand.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Implement &amp; Generate Bitstream : This final step prepares the design for loading onto an FPGA chip.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Debug &amp; Analyze:  </a:t>
            </a:r>
            <a:r>
              <a:rPr lang="en-US" sz="1800" dirty="0" err="1"/>
              <a:t>Vivado</a:t>
            </a:r>
            <a:r>
              <a:rPr lang="en-US" sz="1800" dirty="0"/>
              <a:t> has tools like waveform viewers to help you check and fix errors in your design.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Then we use the Cadence Tool for Synthesis the design code with 90nm Technology to get to know the Area , Power and Timing of the design.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We use the Genus for Synthesis.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5F600-DF98-D1FD-CF13-971A9E01BB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E29DB-0941-0EA8-5D57-041A1DDFF7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C6F76-3B6A-DB68-CEFB-0143331CE8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6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8" name="Google Shape;18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72929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15;p1"/>
          <p:cNvSpPr txBox="1">
            <a:spLocks noGrp="1"/>
          </p:cNvSpPr>
          <p:nvPr>
            <p:ph type="ftr" idx="11"/>
          </p:nvPr>
        </p:nvSpPr>
        <p:spPr>
          <a:xfrm>
            <a:off x="787791" y="6272784"/>
            <a:ext cx="81441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Oriented Mini Project (2025-26) – DEPARTMENT OF ECE , CVR COLLEGE OF ENGINEERING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9AD1A9-53F3-4C49-A8B0-C3E4CA057118}" type="datetime3">
              <a:rPr lang="en-US" smtClean="0"/>
              <a:t>8 April 2026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039411" y="-91399"/>
            <a:ext cx="7290033" cy="97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  <a:defRPr sz="54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 dirty="0">
                <a:latin typeface="+mj-lt"/>
              </a:rPr>
              <a:t>Block Diagram</a:t>
            </a:r>
            <a:endParaRPr lang="en-IN" sz="3200" b="1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402547-2F18-ECF5-BEC6-62E8EA405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463" y="503504"/>
            <a:ext cx="8868695" cy="560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6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617D8-62D0-6785-7E7F-6CCD70A625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9E0D6-92CC-7049-86CD-2641E272A7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41F47-AA7C-E8AD-80B3-555B5F948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1BAF1-03D1-5EB1-B95C-F7211D8A51A6}"/>
              </a:ext>
            </a:extLst>
          </p:cNvPr>
          <p:cNvSpPr txBox="1"/>
          <p:nvPr/>
        </p:nvSpPr>
        <p:spPr>
          <a:xfrm>
            <a:off x="2684206" y="66202"/>
            <a:ext cx="8052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Working of Modified Booth Multiplier</a:t>
            </a:r>
            <a:endParaRPr lang="en-IN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43E036-792E-61B5-CA75-EC4E612AE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304" y="1816100"/>
            <a:ext cx="4168140" cy="2331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6E7FE7-5DB4-B572-B776-F5D058F5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28" t="-1280" r="14313"/>
          <a:stretch>
            <a:fillRect/>
          </a:stretch>
        </p:blipFill>
        <p:spPr>
          <a:xfrm>
            <a:off x="2015613" y="650977"/>
            <a:ext cx="5879691" cy="526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973" y="86000"/>
            <a:ext cx="4009772" cy="71677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j-lt"/>
              </a:rPr>
              <a:t>Working principle</a:t>
            </a:r>
            <a:endParaRPr lang="en-IN" sz="3200" b="1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8" name="Google Shape;18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972" y="-132045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2802589-2B9E-4A78-8DE9-EE5D8B4C2043}" type="datetime3">
              <a:rPr lang="en-US" smtClean="0"/>
              <a:t>8 April 2026</a:t>
            </a:fld>
            <a:endParaRPr lang="en-US"/>
          </a:p>
        </p:txBody>
      </p:sp>
      <p:sp>
        <p:nvSpPr>
          <p:cNvPr id="9" name="Google Shape;115;p1"/>
          <p:cNvSpPr txBox="1">
            <a:spLocks noGrp="1"/>
          </p:cNvSpPr>
          <p:nvPr>
            <p:ph type="ftr" idx="11"/>
          </p:nvPr>
        </p:nvSpPr>
        <p:spPr>
          <a:xfrm>
            <a:off x="759655" y="6272784"/>
            <a:ext cx="81723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Oriented Mini Project (2025-26) – DEPARTMENT OF ECE , CVR COLLEGE OF ENGINEERING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FB983C-983C-BB0F-A18F-FAE869721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210" y="701688"/>
            <a:ext cx="4009772" cy="560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7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464EB-5511-EBB3-E89F-965EB16E0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681C6-4A51-5C07-1C75-B31A436904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E350D-6B4B-4AF2-4A00-9E3598BF56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70AEA7-1359-C105-990A-65BC02C70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57" y="220091"/>
            <a:ext cx="1030605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02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DE6F8-0DFF-4F36-8CE4-89BE4BD088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04BE6-6774-81BC-5CCD-B63632246E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9C035-A511-A6E6-311A-242CA117CD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7D6630-91F1-6202-32C4-AF6955E03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89986"/>
              </p:ext>
            </p:extLst>
          </p:nvPr>
        </p:nvGraphicFramePr>
        <p:xfrm>
          <a:off x="1185881" y="1244762"/>
          <a:ext cx="10052095" cy="4053434"/>
        </p:xfrm>
        <a:graphic>
          <a:graphicData uri="http://schemas.openxmlformats.org/drawingml/2006/table">
            <a:tbl>
              <a:tblPr/>
              <a:tblGrid>
                <a:gridCol w="2010419">
                  <a:extLst>
                    <a:ext uri="{9D8B030D-6E8A-4147-A177-3AD203B41FA5}">
                      <a16:colId xmlns:a16="http://schemas.microsoft.com/office/drawing/2014/main" val="4140753931"/>
                    </a:ext>
                  </a:extLst>
                </a:gridCol>
                <a:gridCol w="2010419">
                  <a:extLst>
                    <a:ext uri="{9D8B030D-6E8A-4147-A177-3AD203B41FA5}">
                      <a16:colId xmlns:a16="http://schemas.microsoft.com/office/drawing/2014/main" val="27438680"/>
                    </a:ext>
                  </a:extLst>
                </a:gridCol>
                <a:gridCol w="2010419">
                  <a:extLst>
                    <a:ext uri="{9D8B030D-6E8A-4147-A177-3AD203B41FA5}">
                      <a16:colId xmlns:a16="http://schemas.microsoft.com/office/drawing/2014/main" val="694147451"/>
                    </a:ext>
                  </a:extLst>
                </a:gridCol>
                <a:gridCol w="2010419">
                  <a:extLst>
                    <a:ext uri="{9D8B030D-6E8A-4147-A177-3AD203B41FA5}">
                      <a16:colId xmlns:a16="http://schemas.microsoft.com/office/drawing/2014/main" val="3945406874"/>
                    </a:ext>
                  </a:extLst>
                </a:gridCol>
                <a:gridCol w="2010419">
                  <a:extLst>
                    <a:ext uri="{9D8B030D-6E8A-4147-A177-3AD203B41FA5}">
                      <a16:colId xmlns:a16="http://schemas.microsoft.com/office/drawing/2014/main" val="374994478"/>
                    </a:ext>
                  </a:extLst>
                </a:gridCol>
              </a:tblGrid>
              <a:tr h="731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Metric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Conventional Multiplication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Google Sans Text"/>
                        </a:rPr>
                        <a:t>Normal Booth Multiplier with Conventional Adder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Google Sans Text"/>
                        </a:rPr>
                        <a:t>Modified Booth Multiplier with CSA Adders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Trend / Observation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07865"/>
                  </a:ext>
                </a:extLst>
              </a:tr>
              <a:tr h="51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Total On-Chip Power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37.905 W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35.058 W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effectLst/>
                          <a:latin typeface="Google Sans Text"/>
                        </a:rPr>
                        <a:t>38.575 W</a:t>
                      </a:r>
                      <a:endParaRPr lang="en-IN" sz="1400" dirty="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Google Sans Text"/>
                        </a:rPr>
                        <a:t>Power remains high due to I/O switching.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873531"/>
                  </a:ext>
                </a:extLst>
              </a:tr>
              <a:tr h="51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Logic Delay (Max)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6.456 ns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7.340 ns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3.741 ns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  <a:latin typeface="Google Sans Text"/>
                        </a:rPr>
                        <a:t>42% improvement</a:t>
                      </a:r>
                      <a:r>
                        <a:rPr lang="en-US" sz="1400">
                          <a:effectLst/>
                          <a:latin typeface="Google Sans Text"/>
                        </a:rPr>
                        <a:t> in logic speed with CSA.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509666"/>
                  </a:ext>
                </a:extLst>
              </a:tr>
              <a:tr h="51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Total Delay (Max)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11.916 ns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13.138 ns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8.735 ns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Google Sans Text"/>
                        </a:rPr>
                        <a:t>CSA version is the fastest overall.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594342"/>
                  </a:ext>
                </a:extLst>
              </a:tr>
              <a:tr h="731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Slice LUTs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399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473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443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Google Sans Text"/>
                        </a:rPr>
                        <a:t>CSA is more area-efficient than "Normal Booth."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660117"/>
                  </a:ext>
                </a:extLst>
              </a:tr>
              <a:tr h="51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Junction Temp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125.0°C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125.0°C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  <a:latin typeface="Google Sans Text"/>
                        </a:rPr>
                        <a:t>125.0°C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  <a:latin typeface="Google Sans Text"/>
                        </a:rPr>
                        <a:t>All exceed thermal limits (Critical).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349206"/>
                  </a:ext>
                </a:extLst>
              </a:tr>
              <a:tr h="51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Critical Path Start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  <a:latin typeface="Google Sans Text"/>
                        </a:rPr>
                        <a:t>A[1]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  <a:latin typeface="Google Sans Text"/>
                        </a:rPr>
                        <a:t>B[8]$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  <a:latin typeface="Google Sans Text"/>
                        </a:rPr>
                        <a:t>en</a:t>
                      </a:r>
                      <a:endParaRPr lang="en-IN" sz="1400">
                        <a:effectLst/>
                        <a:latin typeface="Google Sans Text"/>
                      </a:endParaRP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Google Sans Text"/>
                        </a:rPr>
                        <a:t>High fanout on </a:t>
                      </a:r>
                      <a:r>
                        <a:rPr lang="en-US" sz="1400" dirty="0" err="1">
                          <a:effectLst/>
                          <a:latin typeface="Google Sans Text"/>
                        </a:rPr>
                        <a:t>en</a:t>
                      </a:r>
                      <a:r>
                        <a:rPr lang="en-US" sz="1400" dirty="0">
                          <a:effectLst/>
                          <a:latin typeface="Google Sans Text"/>
                        </a:rPr>
                        <a:t> is the new bottleneck.</a:t>
                      </a:r>
                    </a:p>
                  </a:txBody>
                  <a:tcPr marL="91383" marR="91383" marT="45691" marB="4569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7243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7A85090-E2EF-27A4-6654-AF1DAB1A4B1B}"/>
              </a:ext>
            </a:extLst>
          </p:cNvPr>
          <p:cNvSpPr txBox="1"/>
          <p:nvPr/>
        </p:nvSpPr>
        <p:spPr>
          <a:xfrm>
            <a:off x="4251960" y="72350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 </a:t>
            </a:r>
            <a:r>
              <a:rPr lang="en-US" sz="1400" b="1" dirty="0"/>
              <a:t>Comparation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37580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35AC8-C50A-7575-02DC-DB20474140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76F9-64ED-E844-F9DB-69D83B55B4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9C37E-899C-A515-CE84-9EA60066EB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C58D90-3EEC-97CB-6FD9-7C7E8C89A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439628"/>
              </p:ext>
            </p:extLst>
          </p:nvPr>
        </p:nvGraphicFramePr>
        <p:xfrm>
          <a:off x="1066800" y="1920852"/>
          <a:ext cx="10058400" cy="3354705"/>
        </p:xfrm>
        <a:graphic>
          <a:graphicData uri="http://schemas.openxmlformats.org/drawingml/2006/table">
            <a:tbl>
              <a:tblPr firstRow="1" firstCol="1" bandRow="1">
                <a:tableStyleId>{CBC642B1-3F16-4312-B2C2-3299CEB66A62}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414304096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81995057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6976998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09089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Feature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MAC Pure Combinational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MAC 1-Cycle (Comb. Mult + Seq. </a:t>
                      </a:r>
                      <a:r>
                        <a:rPr lang="en-IN" sz="1200" kern="100" dirty="0" err="1">
                          <a:effectLst/>
                        </a:rPr>
                        <a:t>Acc</a:t>
                      </a:r>
                      <a:r>
                        <a:rPr lang="en-IN" sz="1200" kern="100" dirty="0">
                          <a:effectLst/>
                        </a:rPr>
                        <a:t>)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MAC 2cycle_Fully Sequential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51227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Total On-Chip Power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15.75 W (Lowest)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21.632 W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21.53 W 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8689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Dynamic Power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14.711 W (93%)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20.592 W (95%)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20.490 W (95%)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27700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Total Delay (Max)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51.951 ns (Slowest)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11.255 ns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9.511 ns (Fastest)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5147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Logic Levels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77 Levels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16 Levels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14 Levels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14215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Slice LUTs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523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522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532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4801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Slice Registers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65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6203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Junction Temp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125.0°C (Exceeded)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125.0°C (Exceeded)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125.0°C (Exceeded)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52285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Thermal Margin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-121.7°C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-189.5°C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-188.3°C 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3262362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0D17C6BC-7580-B48B-537E-F48E69FA1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9212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69717-9F23-7741-D72E-1C0A5D435423}"/>
              </a:ext>
            </a:extLst>
          </p:cNvPr>
          <p:cNvSpPr txBox="1"/>
          <p:nvPr/>
        </p:nvSpPr>
        <p:spPr>
          <a:xfrm>
            <a:off x="4099855" y="769736"/>
            <a:ext cx="6631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MAC Unit Comparation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52226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00506-75FC-1D39-E1A6-A8F70FF6C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319" y="232775"/>
            <a:ext cx="9975809" cy="1133909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+mj-lt"/>
              </a:rPr>
              <a:t>Results of RV32IM Processor integrated with MAC unit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6EC1F-F4B5-623D-FC41-2C93AE061C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B370B-3A92-5047-75EB-4C1BC324C8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7263D-F998-607E-2783-4A3465C939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375EF6-720A-577F-BB1D-2CFF77E3D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59" y="1101574"/>
            <a:ext cx="5983129" cy="2327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3FDD56-1C25-C8DD-B6CF-F7B7C0B27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670" y="1246690"/>
            <a:ext cx="5979538" cy="2141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3F650E-A9EF-A2BB-59EE-164728910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936" y="3469572"/>
            <a:ext cx="5798574" cy="276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9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F6A3A-32DB-D2C9-0982-97ED30E978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CC46A-6349-7C6A-0A17-2A3E387091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075A7-7E03-ED27-71A5-ACDFDAFBB9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7A1244-6026-DFA9-93DB-63A711A21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17" y="1268361"/>
            <a:ext cx="11027751" cy="43261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09A701-CF51-5C7A-9460-EF448E53C38F}"/>
              </a:ext>
            </a:extLst>
          </p:cNvPr>
          <p:cNvSpPr txBox="1"/>
          <p:nvPr/>
        </p:nvSpPr>
        <p:spPr>
          <a:xfrm>
            <a:off x="2998839" y="334297"/>
            <a:ext cx="4416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4264021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4ACFE-3AD9-1029-5DD6-30EB076AB2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C7B0AE-F067-4F91-9ECB-FAE13184135E}" type="datetime3">
              <a:rPr lang="en-US" smtClean="0"/>
              <a:t>8 April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AD44D-4098-2B15-A266-C7A17508A1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Industry Oriented Mini Project (2025-26) – DEPARTMENT OF ECE , CVR COLLEGE OF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53F1B-D0B5-D797-E804-20F29FD9E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BC031-5CCC-C44D-BB41-DEEDEBA38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694" y="930377"/>
            <a:ext cx="7030065" cy="52725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7DB393-BB8A-33B2-7F1A-90A33D85DDDC}"/>
              </a:ext>
            </a:extLst>
          </p:cNvPr>
          <p:cNvSpPr txBox="1"/>
          <p:nvPr/>
        </p:nvSpPr>
        <p:spPr>
          <a:xfrm>
            <a:off x="3937228" y="116465"/>
            <a:ext cx="57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Implementation on FPGA</a:t>
            </a:r>
          </a:p>
        </p:txBody>
      </p:sp>
    </p:spTree>
    <p:extLst>
      <p:ext uri="{BB962C8B-B14F-4D97-AF65-F5344CB8AC3E}">
        <p14:creationId xmlns:p14="http://schemas.microsoft.com/office/powerpoint/2010/main" val="1799524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2341" y="398346"/>
            <a:ext cx="7290033" cy="973966"/>
          </a:xfrm>
        </p:spPr>
        <p:txBody>
          <a:bodyPr>
            <a:normAutofit/>
          </a:bodyPr>
          <a:lstStyle/>
          <a:p>
            <a:r>
              <a:rPr lang="en-US" sz="3200" b="1">
                <a:latin typeface="+mj-lt"/>
              </a:rPr>
              <a:t>Conclusions </a:t>
            </a:r>
            <a:endParaRPr lang="en-IN" sz="3200" b="1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575" y="1402271"/>
            <a:ext cx="10058400" cy="4050792"/>
          </a:xfrm>
        </p:spPr>
        <p:txBody>
          <a:bodyPr/>
          <a:lstStyle/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dirty="0"/>
              <a:t>The proposed work focuses on extending the RISC-V  processor by integrating a custom Multiply–Accumulate (MAC) instruction to improve computational efficiency.</a:t>
            </a:r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dirty="0"/>
              <a:t>The architecture design and integration strategy have been planned to enhance performance of autonomous swarm drone collision avoidance.</a:t>
            </a:r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dirty="0"/>
              <a:t>Future work involves completing RTL implementation, synthesis, and simulation to validate functionality and evaluate area, speed, and power improvements.</a:t>
            </a:r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dirty="0"/>
              <a:t>We successfully implemented the RV32IM processor with MAC unit integration in Xilinx </a:t>
            </a:r>
            <a:r>
              <a:rPr lang="en-US" dirty="0" err="1"/>
              <a:t>Vivado</a:t>
            </a:r>
            <a:r>
              <a:rPr lang="en-US" dirty="0"/>
              <a:t> tool  and got required speed, power,</a:t>
            </a:r>
            <a:r>
              <a:rPr lang="en-US" dirty="0" err="1"/>
              <a:t>and</a:t>
            </a:r>
            <a:r>
              <a:rPr lang="en-US" dirty="0"/>
              <a:t> power.</a:t>
            </a:r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342900" algn="just">
              <a:spcBef>
                <a:spcPts val="0"/>
              </a:spcBef>
              <a:buSzPts val="1700"/>
              <a:buFont typeface="Wingdings" panose="05000000000000000000" pitchFamily="2" charset="2"/>
              <a:buChar char="Ø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lvl="0" indent="0">
              <a:spcBef>
                <a:spcPts val="0"/>
              </a:spcBef>
              <a:buSzPts val="1700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31445" indent="0"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8" name="Google Shape;18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2972" y="-132045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1AEB2B-1060-4F53-B481-06AF10610188}" type="datetime3">
              <a:rPr lang="en-US" smtClean="0"/>
              <a:t>8 April 2026</a:t>
            </a:fld>
            <a:endParaRPr lang="en-US"/>
          </a:p>
        </p:txBody>
      </p:sp>
      <p:sp>
        <p:nvSpPr>
          <p:cNvPr id="9" name="Google Shape;115;p1"/>
          <p:cNvSpPr txBox="1">
            <a:spLocks noGrp="1"/>
          </p:cNvSpPr>
          <p:nvPr>
            <p:ph type="ftr" idx="11"/>
          </p:nvPr>
        </p:nvSpPr>
        <p:spPr>
          <a:xfrm>
            <a:off x="661182" y="6272784"/>
            <a:ext cx="82707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Industry Oriented Mini Project (2025-26) – DEPARTMENT OF ECE , CVR COLLEGE OF ENGINEERING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5359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303701" y="348227"/>
            <a:ext cx="2320124" cy="911861"/>
          </a:xfrm>
        </p:spPr>
        <p:txBody>
          <a:bodyPr>
            <a:normAutofit fontScale="90000"/>
          </a:bodyPr>
          <a:lstStyle/>
          <a:p>
            <a:r>
              <a:rPr lang="en-US" sz="3200" b="1">
                <a:latin typeface="+mj-lt"/>
              </a:rPr>
              <a:t>References</a:t>
            </a:r>
            <a:endParaRPr lang="en-IN" sz="3200" b="1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  <a:p>
            <a:pPr marL="131445" lvl="0" indent="0">
              <a:buNone/>
            </a:pPr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F26489-79CE-4233-9CB5-1C6FE8420484}" type="datetime3">
              <a:rPr lang="en-US" smtClean="0"/>
              <a:t>8 April 2026</a:t>
            </a:fld>
            <a:endParaRPr lang="en-US"/>
          </a:p>
        </p:txBody>
      </p:sp>
      <p:sp>
        <p:nvSpPr>
          <p:cNvPr id="8" name="Google Shape;115;p1"/>
          <p:cNvSpPr txBox="1">
            <a:spLocks noGrp="1"/>
          </p:cNvSpPr>
          <p:nvPr>
            <p:ph type="ftr" idx="11"/>
          </p:nvPr>
        </p:nvSpPr>
        <p:spPr>
          <a:xfrm>
            <a:off x="434563" y="6272784"/>
            <a:ext cx="808496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Oriented Mini Project (2025-26) – DEPARTMENT OF ECE , CVR COLLEGE OF ENGINEERING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6" name="Google Shape;18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7999" y="-91801"/>
            <a:ext cx="1518746" cy="115286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2"/>
          <p:cNvSpPr txBox="1">
            <a:spLocks/>
          </p:cNvSpPr>
          <p:nvPr/>
        </p:nvSpPr>
        <p:spPr>
          <a:xfrm>
            <a:off x="528080" y="1061064"/>
            <a:ext cx="11016219" cy="503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575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914400" marR="0" lvl="1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1371600" marR="0" lvl="2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1828800" marR="0" lvl="3" indent="-325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2286000" marR="0" lvl="4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2743200" marR="0" lvl="5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3200400" marR="0" lvl="6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3657600" marR="0" lvl="7" indent="-32575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4114800" marR="0" lvl="8" indent="-325754" algn="l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53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S. N. Piske and S. O. Bajaj, “Performance-Optimized PicoRV32 Implementation with Multiply-Accumulate Custom Instructions,” </a:t>
            </a:r>
            <a:r>
              <a:rPr lang="en-US" i="1" dirty="0"/>
              <a:t>International Journal of Engineering Research &amp; Technology</a:t>
            </a:r>
            <a:r>
              <a:rPr lang="en-US" dirty="0"/>
              <a:t>, vol. 14, no. 7, Jul. 2025.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V. </a:t>
            </a:r>
            <a:r>
              <a:rPr lang="en-IN" dirty="0" err="1"/>
              <a:t>Titopoulos</a:t>
            </a:r>
            <a:r>
              <a:rPr lang="en-IN" dirty="0"/>
              <a:t> </a:t>
            </a:r>
            <a:r>
              <a:rPr lang="en-IN" i="1" dirty="0"/>
              <a:t>et al.</a:t>
            </a:r>
            <a:r>
              <a:rPr lang="en-IN" dirty="0"/>
              <a:t>, “Optimizing Structured-Sparse Matrix Multiplication in RISC-V Vector Processors,” </a:t>
            </a:r>
            <a:r>
              <a:rPr lang="en-IN" i="1" dirty="0" err="1"/>
              <a:t>arXiv</a:t>
            </a:r>
            <a:r>
              <a:rPr lang="en-IN" i="1" dirty="0"/>
              <a:t> preprint arXiv:2501.10189</a:t>
            </a:r>
            <a:r>
              <a:rPr lang="en-IN" dirty="0"/>
              <a:t>, 2025.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Booth, A. D. — "A Signed Binary Multiplication Technique" — Quarterly Journal of Mechanics and Applied Mathematics, Vol. 4, Issue 2, pp. 236–240, Oxford University Press, 1951</a:t>
            </a:r>
            <a:endParaRPr lang="en-IN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E. </a:t>
            </a:r>
            <a:r>
              <a:rPr lang="en-IN" dirty="0" err="1"/>
              <a:t>Rezunov</a:t>
            </a:r>
            <a:r>
              <a:rPr lang="en-IN" dirty="0"/>
              <a:t>, N. </a:t>
            </a:r>
            <a:r>
              <a:rPr lang="en-IN" dirty="0" err="1"/>
              <a:t>Zurstraßen</a:t>
            </a:r>
            <a:r>
              <a:rPr lang="en-IN" dirty="0"/>
              <a:t>, L. M. Reimann, and R. </a:t>
            </a:r>
            <a:r>
              <a:rPr lang="en-IN" dirty="0" err="1"/>
              <a:t>Leupers</a:t>
            </a:r>
            <a:r>
              <a:rPr lang="en-IN" dirty="0"/>
              <a:t>, “Automatic Microarchitecture-Aware Custom Instruction Design for RISC-V Processors,” </a:t>
            </a:r>
            <a:r>
              <a:rPr lang="en-IN" i="1" dirty="0" err="1"/>
              <a:t>arXiv</a:t>
            </a:r>
            <a:r>
              <a:rPr lang="en-IN" i="1" dirty="0"/>
              <a:t> preprint arXiv:2509.15782</a:t>
            </a:r>
            <a:r>
              <a:rPr lang="en-IN" dirty="0"/>
              <a:t>, 2025.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Hennessy, J. L. and Patterson, D. A. — "Computer Architecture: A Quantitative Approach" — Morgan Kaufmann Publishers, 6th Edition, 2019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err="1"/>
              <a:t>Bedrij</a:t>
            </a:r>
            <a:r>
              <a:rPr lang="en-US" dirty="0"/>
              <a:t>, O. J. — "Carry-Select Adder" — IRE Transactions on Electronic Computers, Vol. EC-11, No. 3, pp. 340–346, June 1962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708889"/>
      </p:ext>
    </p:extLst>
  </p:cSld>
  <p:clrMapOvr>
    <a:masterClrMapping/>
  </p:clrMapOvr>
</p:sld>
</file>

<file path=ppt/theme/theme1.xml><?xml version="1.0" encoding="utf-8"?>
<a:theme xmlns:a="http://schemas.openxmlformats.org/drawingml/2006/main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1385</Words>
  <Application>Microsoft Office PowerPoint</Application>
  <PresentationFormat>Widescreen</PresentationFormat>
  <Paragraphs>205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Cambria Math</vt:lpstr>
      <vt:lpstr>CGOMEGA</vt:lpstr>
      <vt:lpstr>Google Sans Text</vt:lpstr>
      <vt:lpstr>Noto Sans Symbols</vt:lpstr>
      <vt:lpstr>Rockwell</vt:lpstr>
      <vt:lpstr>Times New Roman</vt:lpstr>
      <vt:lpstr>Verdana</vt:lpstr>
      <vt:lpstr>Wingdings</vt:lpstr>
      <vt:lpstr>Wood Type</vt:lpstr>
      <vt:lpstr>RISC-V Custom Instruction Multiply-Accumulate Hardware</vt:lpstr>
      <vt:lpstr>Introduction</vt:lpstr>
      <vt:lpstr>Objectives</vt:lpstr>
      <vt:lpstr> Hardware Components Required</vt:lpstr>
      <vt:lpstr>PowerPoint Presentation</vt:lpstr>
      <vt:lpstr>Software Requirement</vt:lpstr>
      <vt:lpstr>PowerPoint Presentation</vt:lpstr>
      <vt:lpstr>PowerPoint Presentation</vt:lpstr>
      <vt:lpstr>Working principle</vt:lpstr>
      <vt:lpstr>PowerPoint Presentation</vt:lpstr>
      <vt:lpstr>PowerPoint Presentation</vt:lpstr>
      <vt:lpstr>PowerPoint Presentation</vt:lpstr>
      <vt:lpstr>Results of RV32IM Processor integrated with MAC unit </vt:lpstr>
      <vt:lpstr>PowerPoint Presentation</vt:lpstr>
      <vt:lpstr>PowerPoint Presentation</vt:lpstr>
      <vt:lpstr>Conclusions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ARRAY ANTENNA FOR ELECTRONIC WARFARE APPLICATIONS</dc:title>
  <dc:creator>Praveen Chakravarthy</dc:creator>
  <cp:lastModifiedBy>pamu sathvikkumar</cp:lastModifiedBy>
  <cp:revision>3</cp:revision>
  <dcterms:created xsi:type="dcterms:W3CDTF">2019-06-21T04:09:29Z</dcterms:created>
  <dcterms:modified xsi:type="dcterms:W3CDTF">2026-04-08T09:04:08Z</dcterms:modified>
</cp:coreProperties>
</file>